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3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A2B45"/>
                </a:solidFill>
                <a:latin typeface="Arial"/>
              </a:defRPr>
            </a:pPr>
            <a:r>
              <a:rPr lang="en-IN" sz="1000" b="0" i="0" u="none" strike="noStrike">
                <a:solidFill>
                  <a:srgbClr val="1A2B45"/>
                </a:solidFill>
                <a:latin typeface="Arial"/>
              </a:rPr>
              <a:t>Jaccard Score by Section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Jaccard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dLbls>
            <c:delete val="1"/>
          </c:dLbls>
          <c:cat>
            <c:strRef>
              <c:f>Sheet1!$A$2:$A$11</c:f>
              <c:strCache>
                <c:ptCount val="10"/>
                <c:pt idx="0">
                  <c:v>purpose</c:v>
                </c:pt>
                <c:pt idx="1">
                  <c:v>scope</c:v>
                </c:pt>
                <c:pt idx="2">
                  <c:v>acronyms</c:v>
                </c:pt>
                <c:pt idx="3">
                  <c:v>references</c:v>
                </c:pt>
                <c:pt idx="4">
                  <c:v>procedure</c:v>
                </c:pt>
                <c:pt idx="5">
                  <c:v>equipment</c:v>
                </c:pt>
                <c:pt idx="6">
                  <c:v>personnel</c:v>
                </c:pt>
                <c:pt idx="7">
                  <c:v>quality</c:v>
                </c:pt>
                <c:pt idx="8">
                  <c:v>health_safety</c:v>
                </c:pt>
                <c:pt idx="9">
                  <c:v>other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7.3300000000000004E-2</c:v>
                </c:pt>
                <c:pt idx="1">
                  <c:v>5.04E-2</c:v>
                </c:pt>
                <c:pt idx="2">
                  <c:v>4.1500000000000002E-2</c:v>
                </c:pt>
                <c:pt idx="3">
                  <c:v>4.6699999999999998E-2</c:v>
                </c:pt>
                <c:pt idx="4">
                  <c:v>9.3200000000000005E-2</c:v>
                </c:pt>
                <c:pt idx="5">
                  <c:v>7.0599999999999996E-2</c:v>
                </c:pt>
                <c:pt idx="6">
                  <c:v>6.4100000000000004E-2</c:v>
                </c:pt>
                <c:pt idx="7">
                  <c:v>0.1143</c:v>
                </c:pt>
                <c:pt idx="8">
                  <c:v>6.1400000000000003E-2</c:v>
                </c:pt>
                <c:pt idx="9">
                  <c:v>7.3899999999999993E-2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2D4-4514-A642-F866BFABA47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14000000000000001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A2B45"/>
                </a:solidFill>
                <a:latin typeface="Arial"/>
              </a:defRPr>
            </a:pPr>
            <a:r>
              <a:rPr lang="en-IN" sz="1000" b="0" i="0" u="none" strike="noStrike">
                <a:solidFill>
                  <a:srgbClr val="1A2B45"/>
                </a:solidFill>
                <a:latin typeface="Arial"/>
              </a:rPr>
              <a:t>BERTScore F1 by Section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BERT F1</c:v>
                </c:pt>
              </c:strCache>
            </c:strRef>
          </c:tx>
          <c:spPr>
            <a:solidFill>
              <a:srgbClr val="00C9A7"/>
            </a:solidFill>
            <a:effectLst/>
          </c:spPr>
          <c:invertIfNegative val="0"/>
          <c:dLbls>
            <c:delete val="1"/>
          </c:dLbls>
          <c:cat>
            <c:strRef>
              <c:f>Sheet1!$A$2:$A$11</c:f>
              <c:strCache>
                <c:ptCount val="10"/>
                <c:pt idx="0">
                  <c:v>purpose</c:v>
                </c:pt>
                <c:pt idx="1">
                  <c:v>scope</c:v>
                </c:pt>
                <c:pt idx="2">
                  <c:v>acronyms</c:v>
                </c:pt>
                <c:pt idx="3">
                  <c:v>references</c:v>
                </c:pt>
                <c:pt idx="4">
                  <c:v>procedure</c:v>
                </c:pt>
                <c:pt idx="5">
                  <c:v>equipment</c:v>
                </c:pt>
                <c:pt idx="6">
                  <c:v>personnel</c:v>
                </c:pt>
                <c:pt idx="7">
                  <c:v>quality</c:v>
                </c:pt>
                <c:pt idx="8">
                  <c:v>health_safety</c:v>
                </c:pt>
                <c:pt idx="9">
                  <c:v>other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0.8276</c:v>
                </c:pt>
                <c:pt idx="1">
                  <c:v>0.82069999999999999</c:v>
                </c:pt>
                <c:pt idx="2">
                  <c:v>0.81640000000000001</c:v>
                </c:pt>
                <c:pt idx="3">
                  <c:v>0.79</c:v>
                </c:pt>
                <c:pt idx="4">
                  <c:v>0.84389999999999998</c:v>
                </c:pt>
                <c:pt idx="5">
                  <c:v>0.78820000000000001</c:v>
                </c:pt>
                <c:pt idx="6">
                  <c:v>0.84150000000000003</c:v>
                </c:pt>
                <c:pt idx="7">
                  <c:v>0.82850000000000001</c:v>
                </c:pt>
                <c:pt idx="8">
                  <c:v>0.8448</c:v>
                </c:pt>
                <c:pt idx="9">
                  <c:v>0.85740000000000005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472-4617-9BB6-294FF13069B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9"/>
          <c:min val="0.7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6040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058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RAG-Based Method Statement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 for RCC Works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24688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8C4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extraction of Method Statements from CPWD Prescriptive Specifications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A8C4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semantic parsing, vector retrieval, and LLM generation.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3337560"/>
            <a:ext cx="8046720" cy="1325880"/>
          </a:xfrm>
          <a:prstGeom prst="rect">
            <a:avLst/>
          </a:prstGeom>
          <a:solidFill>
            <a:srgbClr val="0E2040"/>
          </a:solidFill>
          <a:ln w="6350">
            <a:solidFill>
              <a:srgbClr val="1C3A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3456432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Musketeers 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381304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Rishabh Sharma  (Team Leader)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77240" y="408736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Aman Likhitkar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800600" y="381304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Rishabh Bharadwaj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800600" y="408736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Deepak Pachauri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1645920" cy="2743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1628"/>
                </a:solidFill>
              </a:rPr>
              <a:t>Q1 — PROBLEM STATEMENT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Problem Does This Project Solve?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D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extraction of Method Statements from dense construction specifications is time-consuming and error-prone.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402336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D9E4EE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371600"/>
            <a:ext cx="54864" cy="329184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417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801368"/>
            <a:ext cx="36576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CPWD Prescriptive Specifications span hundreds of pages of dense technical text and tables.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manually extract RCC Method Statements — a slow, inconsistent process prone to omission.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scalable automated solution existed for specification-to-document generation in this domain.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63440" y="1371600"/>
            <a:ext cx="402336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D9E4EE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371600"/>
            <a:ext cx="54864" cy="32918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417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Objective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1801368"/>
            <a:ext cx="36576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end-to-end RAG pipeline to automatically produce structured Method Statements.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 all specification values (grades, codes, ratios) verbatim — zero hallucination.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output quality with Jaccard overlap and BERTScore metrics against retrieved context.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Ref: CPWD Prescriptive Specifications | Pipeline: parser v3 → embed_and_store v4 → retrieve_and_generate v5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1645920" cy="2743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1628"/>
                </a:solidFill>
              </a:rPr>
              <a:t>Q2 — ARCHITECTURE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RAG Pipeline Architecture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D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sequential stages transform a raw PDF specification into a styled Method Statement document.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463040"/>
            <a:ext cx="196596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C8D9EC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33272" y="1536192"/>
            <a:ext cx="530352" cy="530352"/>
          </a:xfrm>
          <a:prstGeom prst="ellipse">
            <a:avLst/>
          </a:prstGeom>
          <a:solidFill>
            <a:srgbClr val="5B6EE1"/>
          </a:solidFill>
          <a:ln w="12700">
            <a:solidFill>
              <a:srgbClr val="5B6E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3272" y="153619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93192" y="21488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Parser</a:t>
            </a:r>
            <a:endParaRPr lang="en-US" sz="1150" dirty="0"/>
          </a:p>
          <a:p>
            <a:pPr marL="0" indent="0" algn="ctr">
              <a:buNone/>
            </a:pP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93192" y="278892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D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PyMuPDF · Semantic Chunking · Rich Metadata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286000" y="2606040"/>
            <a:ext cx="182880" cy="0"/>
          </a:xfrm>
          <a:prstGeom prst="line">
            <a:avLst/>
          </a:prstGeom>
          <a:noFill/>
          <a:ln w="25400">
            <a:solidFill>
              <a:srgbClr val="2E75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77440" y="2496312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75B6"/>
                </a:solidFill>
              </a:rPr>
              <a:t>▶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468880" y="1463040"/>
            <a:ext cx="196596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C8D9EC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4" name="Shape 12"/>
          <p:cNvSpPr/>
          <p:nvPr/>
        </p:nvSpPr>
        <p:spPr>
          <a:xfrm>
            <a:off x="3182112" y="1536192"/>
            <a:ext cx="530352" cy="530352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82112" y="153619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542032" y="21488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&amp;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542032" y="278892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D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all-MiniLM-L12-v2 · ChromaDB · Enriched Metadata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434840" y="2606040"/>
            <a:ext cx="182880" cy="0"/>
          </a:xfrm>
          <a:prstGeom prst="line">
            <a:avLst/>
          </a:prstGeom>
          <a:noFill/>
          <a:ln w="25400">
            <a:solidFill>
              <a:srgbClr val="2E75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26280" y="2496312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75B6"/>
                </a:solidFill>
              </a:rPr>
              <a:t>▶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17720" y="1463040"/>
            <a:ext cx="196596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C8D9EC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330952" y="1536192"/>
            <a:ext cx="530352" cy="530352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30952" y="153619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690872" y="21488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&amp;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690872" y="278892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D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Multi-Query · Cross-Encoder · Groq LLM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583680" y="2606040"/>
            <a:ext cx="182880" cy="0"/>
          </a:xfrm>
          <a:prstGeom prst="line">
            <a:avLst/>
          </a:prstGeom>
          <a:noFill/>
          <a:ln w="25400">
            <a:solidFill>
              <a:srgbClr val="2E75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75120" y="2496312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75B6"/>
                </a:solidFill>
              </a:rPr>
              <a:t>▶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766560" y="1463040"/>
            <a:ext cx="196596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C8D9EC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479792" y="1536192"/>
            <a:ext cx="530352" cy="5303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79792" y="153619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839712" y="21488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DOCX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839712" y="278892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D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Branded Word Document · 10 MS Sections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20040" y="388620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i="1" dirty="0">
                <a:solidFill>
                  <a:srgbClr val="5B6E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Prescriptive Specifications_CPWD.pdf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663440" y="3886200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Method_Statement_RCC.docx + accuracy_metrics.json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Libraries: PyMuPDF 1.24 · sentence-transformers · chromadb · groq-python · python-docx | LLM: llama-3.3-70b-versatile (Groq)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1645920" cy="2743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1628"/>
                </a:solidFill>
              </a:rPr>
              <a:t>STAGE 1 — PDF PARSER V3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 CPWD Specification: Semantic Chunking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D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PyMuPDF extracts text and tables; a hierarchical section tree is built with overlap-aware semantic chunks.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411480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D9E4EE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371600"/>
            <a:ext cx="54864" cy="3383280"/>
          </a:xfrm>
          <a:prstGeom prst="rect">
            <a:avLst/>
          </a:prstGeom>
          <a:solidFill>
            <a:srgbClr val="5B6EE1"/>
          </a:solidFill>
          <a:ln w="12700">
            <a:solidFill>
              <a:srgbClr val="5B6E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4173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Parser Features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801368"/>
            <a:ext cx="37490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tree built from section-number regex (e.g. §4.1.2)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detected via PyMuPDF find_tables(); split-page tables auto-merged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sections split at sentence boundaries with 150-char overlap to preserve context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metadata per chunk: hierarchy_path, depth, chunk_type, has_tables, is_continuation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parsed_sections.json — v3 format with section_content &amp; table chunks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09160" y="1371600"/>
            <a:ext cx="411480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C8D9EC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92040" y="14173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Metadata Schema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92040" y="1828800"/>
            <a:ext cx="1737360" cy="274320"/>
          </a:xfrm>
          <a:prstGeom prst="rect">
            <a:avLst/>
          </a:prstGeom>
          <a:solidFill>
            <a:srgbClr val="EBF2FA"/>
          </a:solidFill>
          <a:ln w="6350">
            <a:solidFill>
              <a:srgbClr val="D0E3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10328" y="1837944"/>
            <a:ext cx="17007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chunk_type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693408" y="183794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section_content | table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892040" y="2167128"/>
            <a:ext cx="1737360" cy="274320"/>
          </a:xfrm>
          <a:prstGeom prst="rect">
            <a:avLst/>
          </a:prstGeom>
          <a:solidFill>
            <a:srgbClr val="EBF2FA"/>
          </a:solidFill>
          <a:ln w="6350">
            <a:solidFill>
              <a:srgbClr val="D0E3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10328" y="2176272"/>
            <a:ext cx="17007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section_id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693408" y="217627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 4.1.2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892040" y="2505456"/>
            <a:ext cx="1737360" cy="274320"/>
          </a:xfrm>
          <a:prstGeom prst="rect">
            <a:avLst/>
          </a:prstGeom>
          <a:solidFill>
            <a:srgbClr val="EBF2FA"/>
          </a:solidFill>
          <a:ln w="6350">
            <a:solidFill>
              <a:srgbClr val="D0E3F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0328" y="2514600"/>
            <a:ext cx="17007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hierarchy_path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693408" y="25146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 4 &gt; 4.1 &gt; 4.1.2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892040" y="2843784"/>
            <a:ext cx="1737360" cy="274320"/>
          </a:xfrm>
          <a:prstGeom prst="rect">
            <a:avLst/>
          </a:prstGeom>
          <a:solidFill>
            <a:srgbClr val="EBF2FA"/>
          </a:solidFill>
          <a:ln w="6350">
            <a:solidFill>
              <a:srgbClr val="D0E3F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0328" y="2852928"/>
            <a:ext cx="17007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depth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693408" y="285292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= top-level, ↑ = deeper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892040" y="3182112"/>
            <a:ext cx="1737360" cy="274320"/>
          </a:xfrm>
          <a:prstGeom prst="rect">
            <a:avLst/>
          </a:prstGeom>
          <a:solidFill>
            <a:srgbClr val="EBF2FA"/>
          </a:solidFill>
          <a:ln w="6350">
            <a:solidFill>
              <a:srgbClr val="D0E3F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10328" y="3191256"/>
            <a:ext cx="17007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has_tables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693408" y="319125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 — section contains tables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892040" y="3520440"/>
            <a:ext cx="1737360" cy="274320"/>
          </a:xfrm>
          <a:prstGeom prst="rect">
            <a:avLst/>
          </a:prstGeom>
          <a:solidFill>
            <a:srgbClr val="EBF2FA"/>
          </a:solidFill>
          <a:ln w="6350">
            <a:solidFill>
              <a:srgbClr val="D0E3F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10328" y="3529584"/>
            <a:ext cx="17007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is_continuation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693408" y="352958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 — overlap chunk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892040" y="3858768"/>
            <a:ext cx="1737360" cy="274320"/>
          </a:xfrm>
          <a:prstGeom prst="rect">
            <a:avLst/>
          </a:prstGeom>
          <a:solidFill>
            <a:srgbClr val="EBF2FA"/>
          </a:solidFill>
          <a:ln w="6350">
            <a:solidFill>
              <a:srgbClr val="D0E3F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10328" y="3867912"/>
            <a:ext cx="17007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content_length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693408" y="386791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 count of text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892040" y="4197096"/>
            <a:ext cx="1737360" cy="274320"/>
          </a:xfrm>
          <a:prstGeom prst="rect">
            <a:avLst/>
          </a:prstGeom>
          <a:solidFill>
            <a:srgbClr val="EBF2FA"/>
          </a:solidFill>
          <a:ln w="6350">
            <a:solidFill>
              <a:srgbClr val="D0E3F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10328" y="4206240"/>
            <a:ext cx="17007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table_id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693408" y="420624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 Table 4.1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892040" y="4553712"/>
            <a:ext cx="3749040" cy="0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Ref: parser.py v3 | Chunking: max_chunk_size=800 chars, overlap=150 chars | Section regex: ^(\d+(\.\d+)+)\.?\s+(.*)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1645920" cy="2743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1628"/>
                </a:solidFill>
              </a:rPr>
              <a:t>STAGE 2 — EMBED &amp; STORE V4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Embedding, Enrichment &amp; Vector Storage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D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 are enriched, embedded with all-MiniLM-L12-v2 and persisted in ChromaDB with full metadata.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274320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D9E4EE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417320"/>
            <a:ext cx="54864" cy="33832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6304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Enrichment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874520"/>
            <a:ext cx="2423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Auto-classifies each chunk into 9 semantic categories (procedure, quality, references, …) using keyword scoring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importance_score: 1.2 for tables, ≤1.0 for prose (inverse depth weighting)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content_density: words per 100 chars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is_continuation_chunk flag passed through for reranking penalty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0" y="1417320"/>
            <a:ext cx="274320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D9E4EE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417320"/>
            <a:ext cx="54864" cy="338328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146304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Strategy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83280" y="1874520"/>
            <a:ext cx="2423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all-MiniLM-L12-v2 (384-dim dense vectors)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text = [Section: hierarchy_path] + Title: … + chunk text + [Table Info: …]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prefix format mirrored in query builder for semantic alignment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 compatible: v2 plain-section JSON auto-converted to v3 format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80760" y="1417320"/>
            <a:ext cx="274320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D9E4EE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80760" y="1417320"/>
            <a:ext cx="54864" cy="338328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63640" y="146304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Storage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63640" y="1874520"/>
            <a:ext cx="2423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PersistentClient: stored in ./chroma_db/ directory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Collection: 'sections' — upsert strategy (safe re-runs)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IDs auto-resolved with counter suffix before upsert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documents[] stores original_text (not embedding text) for context building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Ref: embed_and_store.py v4 | Model: sentence-transformers/all-MiniLM-L12-v2 | DB: chromadb PersistentClient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1645920" cy="2743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1628"/>
                </a:solidFill>
              </a:rPr>
              <a:t>STAGE 3 — RETRIEVAL V5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Multi-Query Retrieval with Cross-Encoder Reranking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D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of the 10 MS sections uses multiple targeted queries; results are reranked by semantic relevance + importance.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201168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C8D9EC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14984" y="1490472"/>
            <a:ext cx="512064" cy="512064"/>
          </a:xfrm>
          <a:prstGeom prst="ellipse">
            <a:avLst/>
          </a:prstGeom>
          <a:solidFill>
            <a:srgbClr val="5B6EE1"/>
          </a:solidFill>
          <a:ln w="12700">
            <a:solidFill>
              <a:srgbClr val="5B6E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14984" y="14904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" y="208483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Multi-Query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578608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D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passes per query: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D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All chunks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D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Table chunks only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D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threshold: 1.4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286000" y="283464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E75B6"/>
                </a:solidFill>
              </a:rPr>
              <a:t>▶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468880" y="1417320"/>
            <a:ext cx="201168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C8D9EC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9544" y="1490472"/>
            <a:ext cx="512064" cy="512064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9544" y="14904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560320" y="208483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 &amp;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560320" y="2578608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D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seen_ids set prevents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D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duplicates. Max pool: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D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unique chunks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D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section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480560" y="283464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E75B6"/>
                </a:solidFill>
              </a:rPr>
              <a:t>▶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63440" y="1417320"/>
            <a:ext cx="201168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C8D9EC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04104" y="1490472"/>
            <a:ext cx="512064" cy="512064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04104" y="14904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754880" y="208483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Cross-Encoder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54880" y="2578608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D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cross-encoder/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D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ms-marco-MiniLM-L-6-v2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D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each (query, chunk)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D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semantically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675120" y="283464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E75B6"/>
                </a:solidFill>
              </a:rPr>
              <a:t>▶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858000" y="1417320"/>
            <a:ext cx="201168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C8D9EC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598664" y="1490472"/>
            <a:ext cx="512064" cy="51206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98664" y="14904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949440" y="208483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949440" y="2578608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D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= CE_score ×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D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importance_score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D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bonus: L0+0.15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D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Cont. penalty: −0.05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4320" y="4572000"/>
            <a:ext cx="8595360" cy="365760"/>
          </a:xfrm>
          <a:prstGeom prst="rect">
            <a:avLst/>
          </a:prstGeom>
          <a:solidFill>
            <a:srgbClr val="EBF5FB"/>
          </a:solidFill>
          <a:ln w="6350">
            <a:solidFill>
              <a:srgbClr val="AED6F1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57200" y="4608576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Builder: </a:t>
            </a:r>
            <a:r>
              <a:rPr lang="en-US" sz="95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chunks serialised into SPECIFICATION TEXT + SPECIFICATION TABLES blocks (max 16,000 chars) passed to LLM.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Ref: retrieve_and_generate.py v5 | Reranker: cross-encoder/ms-marco-MiniLM-L-6-v2 | n_per_query=8, pool_cap=16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1645920" cy="2743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1628"/>
                </a:solidFill>
              </a:rPr>
              <a:t>STAGE 3 — GENERATION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Generation: Groq + llama-3.3-70b-versatile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D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two-step chain-of-thought prompt anchors output to verbatim specification phrases, minimising hallucination.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475488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D9E4EE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371600"/>
            <a:ext cx="54864" cy="34747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41732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Strategy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1828800"/>
            <a:ext cx="4389120" cy="475488"/>
          </a:xfrm>
          <a:prstGeom prst="rect">
            <a:avLst/>
          </a:prstGeom>
          <a:solidFill>
            <a:srgbClr val="F0F7FF"/>
          </a:solidFill>
          <a:ln w="6350">
            <a:solidFill>
              <a:srgbClr val="D5E8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1865376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057400" y="1865376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rules: spec-only, no hallucination, cite §numbers, quote key terms verbatim (≥40%)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8640" y="2377440"/>
            <a:ext cx="43891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5E8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2414016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(silent)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057400" y="2414016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2–3 most relevant sentences from retrieved excerpts as verbatim anchors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48640" y="2926080"/>
            <a:ext cx="4389120" cy="475488"/>
          </a:xfrm>
          <a:prstGeom prst="rect">
            <a:avLst/>
          </a:prstGeom>
          <a:solidFill>
            <a:srgbClr val="F0F7FF"/>
          </a:solidFill>
          <a:ln w="6350">
            <a:solidFill>
              <a:srgbClr val="D5E8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2962656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(output)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057400" y="2962656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section body using those anchors — no heading, body text only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48640" y="3474720"/>
            <a:ext cx="43891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5E8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" y="3511296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057400" y="3511296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 — low entropy for factual technical writing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8640" y="4023360"/>
            <a:ext cx="4389120" cy="475488"/>
          </a:xfrm>
          <a:prstGeom prst="rect">
            <a:avLst/>
          </a:prstGeom>
          <a:solidFill>
            <a:srgbClr val="F0F7FF"/>
          </a:solidFill>
          <a:ln w="6350">
            <a:solidFill>
              <a:srgbClr val="D5E8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" y="4059936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tokens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057400" y="4059936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1,024 per section | 10 sections × ~400 words average output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349240" y="1371600"/>
            <a:ext cx="347472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C8D9EC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532120" y="14173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Generated Sections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532120" y="1801368"/>
            <a:ext cx="31089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Purpose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Scope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Acronyms &amp; Definitions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Reference Documents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Procedure for Concreting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Equipment Used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Key Personnel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Quality Control &amp; Testing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HSE Considerations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Other Relevant Information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Ref: retrieve_and_generate.py v5 | Model: llama-3.3-70b-versatile via Groq API | Outputs: generated_sections_debug.json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1645920" cy="2743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1628"/>
                </a:solidFill>
              </a:rPr>
              <a:t>Q3 — EVALUATION METRICS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Evaluation: Jaccard Overlap &amp; BERTScore F1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D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complementary metrics assess lexical fidelity and semantic faithfulness of generated sections against retrieved context.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19659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0E3F2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46304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0.0689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11480" y="1938528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Jaccard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2176272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overlap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560320" y="1417320"/>
            <a:ext cx="19659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0E3F2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606040" y="146304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0.8259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606040" y="1938528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BERT F1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606040" y="2176272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similarity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754880" y="1417320"/>
            <a:ext cx="19659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0E3F2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00600" y="146304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800600" y="1938528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 / Section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00600" y="2176272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pool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949440" y="1417320"/>
            <a:ext cx="196596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0E3F2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995160" y="146304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995160" y="1938528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Sections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995160" y="2176272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</a:t>
            </a:r>
            <a:endParaRPr lang="en-US" sz="850" dirty="0"/>
          </a:p>
        </p:txBody>
      </p:sp>
      <p:graphicFrame>
        <p:nvGraphicFramePr>
          <p:cNvPr id="22" name="Chart 0"/>
          <p:cNvGraphicFramePr/>
          <p:nvPr/>
        </p:nvGraphicFramePr>
        <p:xfrm>
          <a:off x="365760" y="2606040"/>
          <a:ext cx="4206240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3" name="Chart 1"/>
          <p:cNvGraphicFramePr/>
          <p:nvPr/>
        </p:nvGraphicFramePr>
        <p:xfrm>
          <a:off x="4709160" y="2606040"/>
          <a:ext cx="4206240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4" name="Text 20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Jaccard: token-overlap between generated text and retrieved chunks (stopwords removed) | BERTScore: roberta-large contextual embeddings via bert-score library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1645920" cy="2743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1628"/>
                </a:solidFill>
              </a:rPr>
              <a:t>Q3 — METRIC INTERPRETATION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the Metrics Tell Us?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D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Jaccard and BERTScore measure complementary aspects of generation quality — both are evaluated against retrieved context, not ground truth.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841248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4EE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371600"/>
            <a:ext cx="54864" cy="107899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4173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Jaccard Overlap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700784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0.04 – 0.11   |   Mean: 0.069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834640" y="1426464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verbatim token reuse between generated text and retrieved spec chunks. Low absolute values are expected — generated prose is naturally more concise than raw spec text. 'procedure' (0.093) and 'quality' (0.114) score highest, confirming these sections draw most directly from specification language.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560320"/>
            <a:ext cx="841248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4EE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560320"/>
            <a:ext cx="54864" cy="107899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6060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BERTScore F1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2889504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0.788 – 0.857   |   Mean: 0.826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834640" y="2615184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semantic similarity using roberta-large contextual embeddings. Scores ≥ 0.80 across all sections indicate strong semantic alignment with the source specification. 'other' (0.857) and 'health_safety' (0.845) are highest; 'equipment' (0.788) is lowest — suggesting equipment terminology is paraphrased more than quoted.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749040"/>
            <a:ext cx="841248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D9E4EE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749040"/>
            <a:ext cx="54864" cy="1078992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7947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Signal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4078224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—   |   Mean: —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834640" y="3803904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BERTScore (&gt;0.82) with moderate Jaccard (~0.07) is the expected pattern for a technically faithful but stylistically polished output. The LLM successfully preserves semantic intent while restructuring raw spec text into readable Method Statement prose.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Metrics evaluated against retrieved context (not ground-truth Method Statement), as no labelled reference exists for this domain.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09728"/>
            <a:ext cx="1645920" cy="2743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1628"/>
                </a:solidFill>
              </a:rPr>
              <a:t>STAGE 4 — DOCUMENT OUTPUT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DOCX Generation: generate_docx.js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D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/ docx library builds a branded Word document from the JSON sections — no manual editing required.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411480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D9E4EE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371600"/>
            <a:ext cx="54864" cy="3383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4173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Structure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828800"/>
            <a:ext cx="37490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page: team name, members (leader highlighted), date, doc reference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Method Statement sections with branded Heading 1 + sub-headings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**bold** markup from LLM output rendered as actual bold runs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 &amp; numbered list auto-detection from raw LLM text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Header: 'METHOD STATEMENT — RCC Works | Team name'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Footer: 'CPWD Specifications — Confidential | Page N'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page: pipeline parameters, document conventions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09160" y="1371600"/>
            <a:ext cx="411480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C8D9EC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92040" y="14173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Tokens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92040" y="1801368"/>
            <a:ext cx="3749040" cy="292608"/>
          </a:xfrm>
          <a:prstGeom prst="rect">
            <a:avLst/>
          </a:prstGeom>
          <a:solidFill>
            <a:srgbClr val="F0F7FF"/>
          </a:solidFill>
          <a:ln w="6350">
            <a:solidFill>
              <a:srgbClr val="D5E8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83480" y="1819656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colour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92240" y="181965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#1F4E79  deep navy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892040" y="2139696"/>
            <a:ext cx="37490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5E8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83480" y="2157984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 colour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92240" y="215798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#2E75B6  mid-blue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892040" y="2478024"/>
            <a:ext cx="3749040" cy="292608"/>
          </a:xfrm>
          <a:prstGeom prst="rect">
            <a:avLst/>
          </a:prstGeom>
          <a:solidFill>
            <a:srgbClr val="F0F7FF"/>
          </a:solidFill>
          <a:ln w="6350">
            <a:solidFill>
              <a:srgbClr val="D5E8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83480" y="249631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font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92240" y="249631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Calibri 11pt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892040" y="2816352"/>
            <a:ext cx="37490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5E8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83480" y="283464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Heading font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92240" y="283464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Calibri 13pt bold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92040" y="3154680"/>
            <a:ext cx="3749040" cy="292608"/>
          </a:xfrm>
          <a:prstGeom prst="rect">
            <a:avLst/>
          </a:prstGeom>
          <a:solidFill>
            <a:srgbClr val="F0F7FF"/>
          </a:solidFill>
          <a:ln w="6350">
            <a:solidFill>
              <a:srgbClr val="D5E8F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83480" y="317296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size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492240" y="317296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 (21 × 29.7 cm)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892040" y="3493008"/>
            <a:ext cx="37490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5E8F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83480" y="3511296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492240" y="351129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0.75" top/bottom, 1" left/right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892040" y="3831336"/>
            <a:ext cx="3749040" cy="292608"/>
          </a:xfrm>
          <a:prstGeom prst="rect">
            <a:avLst/>
          </a:prstGeom>
          <a:solidFill>
            <a:srgbClr val="F0F7FF"/>
          </a:solidFill>
          <a:ln w="6350">
            <a:solidFill>
              <a:srgbClr val="D5E8F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83480" y="3849624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library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492240" y="384962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docx v8.x (Packer.toBuffer)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892040" y="4169664"/>
            <a:ext cx="374904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D5E8F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83480" y="418795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alt.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492240" y="418795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python-docx (Colab compatible)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B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Ref: generate_docx.js | Library: docx (npmjs.com/package/docx) | Python alternative: python-docx in RAG_Method_Statement_Pipeline.ipynb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6576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Conclusions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8321040" cy="438912"/>
          </a:xfrm>
          <a:prstGeom prst="rect">
            <a:avLst/>
          </a:prstGeom>
          <a:solidFill>
            <a:srgbClr val="0D2240"/>
          </a:solidFill>
          <a:ln w="6350">
            <a:solidFill>
              <a:srgbClr val="1C3A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051560"/>
            <a:ext cx="320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60120" y="1051560"/>
            <a:ext cx="7726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4E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RAG pipeline: PDF → semantic chunks → ChromaDB → Groq LLM → branded .docx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1508760"/>
            <a:ext cx="8321040" cy="438912"/>
          </a:xfrm>
          <a:prstGeom prst="rect">
            <a:avLst/>
          </a:prstGeom>
          <a:solidFill>
            <a:srgbClr val="0D2240"/>
          </a:solidFill>
          <a:ln w="6350">
            <a:solidFill>
              <a:srgbClr val="1C3A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554480"/>
            <a:ext cx="320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1554480"/>
            <a:ext cx="7726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4E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BERTScore F1 = 0.826 across 10 sections — strong semantic alignment with CPWD spec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011680"/>
            <a:ext cx="8321040" cy="438912"/>
          </a:xfrm>
          <a:prstGeom prst="rect">
            <a:avLst/>
          </a:prstGeom>
          <a:solidFill>
            <a:srgbClr val="0D2240"/>
          </a:solidFill>
          <a:ln w="6350">
            <a:solidFill>
              <a:srgbClr val="1C3A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2057400"/>
            <a:ext cx="320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60120" y="2057400"/>
            <a:ext cx="7726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4E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Jaccard = 0.069 — expected for concise prose vs. raw spec; 'quality' highest at 0.114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2514600"/>
            <a:ext cx="8321040" cy="438912"/>
          </a:xfrm>
          <a:prstGeom prst="rect">
            <a:avLst/>
          </a:prstGeom>
          <a:solidFill>
            <a:srgbClr val="0D2240"/>
          </a:solidFill>
          <a:ln w="6350">
            <a:solidFill>
              <a:srgbClr val="1C3A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2560320"/>
            <a:ext cx="320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" y="2560320"/>
            <a:ext cx="7726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4E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Cross-encoder reranking + importance boosting measurably improves chunk relevance over v4 baseline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3017520"/>
            <a:ext cx="8321040" cy="438912"/>
          </a:xfrm>
          <a:prstGeom prst="rect">
            <a:avLst/>
          </a:prstGeom>
          <a:solidFill>
            <a:srgbClr val="0D2240"/>
          </a:solidFill>
          <a:ln w="6350">
            <a:solidFill>
              <a:srgbClr val="1C3A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3063240"/>
            <a:ext cx="320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60120" y="3063240"/>
            <a:ext cx="7726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4E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(Colab-ready .ipynb) consolidates all stages — zero manual steps between PDF upload and .docx download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3520440"/>
            <a:ext cx="8321040" cy="438912"/>
          </a:xfrm>
          <a:prstGeom prst="rect">
            <a:avLst/>
          </a:prstGeom>
          <a:solidFill>
            <a:srgbClr val="1A0D10"/>
          </a:solidFill>
          <a:ln w="6350">
            <a:solidFill>
              <a:srgbClr val="1C3A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3566160"/>
            <a:ext cx="320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△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60120" y="3566160"/>
            <a:ext cx="7726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4E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 Jaccard scores reflect generation style, not correctness — no ground-truth MS available for this spec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02920" y="4023360"/>
            <a:ext cx="8321040" cy="438912"/>
          </a:xfrm>
          <a:prstGeom prst="rect">
            <a:avLst/>
          </a:prstGeom>
          <a:solidFill>
            <a:srgbClr val="1A0D10"/>
          </a:solidFill>
          <a:ln w="6350">
            <a:solidFill>
              <a:srgbClr val="1C3A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4069080"/>
            <a:ext cx="320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△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60120" y="4069080"/>
            <a:ext cx="7726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4E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Future: fine-tuned domain embedding model (e.g. nomic-embed-text) may further improve retrieval recall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02920" y="475488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4A7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Musketeers  |  RAG Method Statement Generator  |  CPWD Specification Domain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1718</Words>
  <Application>Microsoft Office PowerPoint</Application>
  <PresentationFormat>On-screen Show (16:9)</PresentationFormat>
  <Paragraphs>240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RAG-Based Method Statement Generator</dc:title>
  <dc:subject>PptxGenJS Presentation</dc:subject>
  <dc:creator>PptxGenJS</dc:creator>
  <cp:lastModifiedBy>Rishabh Sharma</cp:lastModifiedBy>
  <cp:revision>5</cp:revision>
  <dcterms:created xsi:type="dcterms:W3CDTF">2026-05-01T11:58:40Z</dcterms:created>
  <dcterms:modified xsi:type="dcterms:W3CDTF">2026-05-01T17:08:33Z</dcterms:modified>
</cp:coreProperties>
</file>